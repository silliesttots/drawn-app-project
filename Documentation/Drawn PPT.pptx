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Manison SemiExpanded Bold" charset="1" panose="00000000000000000000"/>
      <p:regular r:id="rId27"/>
    </p:embeddedFont>
    <p:embeddedFont>
      <p:font typeface="Canva Sans" charset="1" panose="020B0503030501040103"/>
      <p:regular r:id="rId28"/>
    </p:embeddedFont>
    <p:embeddedFont>
      <p:font typeface="Canva Sans Bold" charset="1" panose="020B08030305010401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3858556" y="2665517"/>
            <a:ext cx="11370179" cy="3916680"/>
          </a:xfrm>
          <a:prstGeom prst="rect">
            <a:avLst/>
          </a:prstGeom>
        </p:spPr>
        <p:txBody>
          <a:bodyPr anchor="t" rtlCol="false" tIns="0" lIns="0" bIns="0" rIns="0">
            <a:spAutoFit/>
          </a:bodyPr>
          <a:lstStyle/>
          <a:p>
            <a:pPr algn="ctr">
              <a:lnSpc>
                <a:spcPts val="7559"/>
              </a:lnSpc>
            </a:pPr>
            <a:r>
              <a:rPr lang="en-US" sz="9000" b="true">
                <a:solidFill>
                  <a:srgbClr val="5A3831"/>
                </a:solidFill>
                <a:latin typeface="Manison SemiExpanded Bold"/>
                <a:ea typeface="Manison SemiExpanded Bold"/>
                <a:cs typeface="Manison SemiExpanded Bold"/>
                <a:sym typeface="Manison SemiExpanded Bold"/>
              </a:rPr>
              <a:t>Drawn System – Digital Commission Platform</a:t>
            </a:r>
          </a:p>
        </p:txBody>
      </p:sp>
      <p:sp>
        <p:nvSpPr>
          <p:cNvPr name="TextBox 17" id="17"/>
          <p:cNvSpPr txBox="true"/>
          <p:nvPr/>
        </p:nvSpPr>
        <p:spPr>
          <a:xfrm rot="0">
            <a:off x="5815561" y="7107698"/>
            <a:ext cx="6814447" cy="342265"/>
          </a:xfrm>
          <a:prstGeom prst="rect">
            <a:avLst/>
          </a:prstGeom>
        </p:spPr>
        <p:txBody>
          <a:bodyPr anchor="t" rtlCol="false" tIns="0" lIns="0" bIns="0" rIns="0">
            <a:spAutoFit/>
          </a:bodyPr>
          <a:lstStyle/>
          <a:p>
            <a:pPr algn="ctr">
              <a:lnSpc>
                <a:spcPts val="2599"/>
              </a:lnSpc>
            </a:pPr>
            <a:r>
              <a:rPr lang="en-US" sz="2599">
                <a:solidFill>
                  <a:srgbClr val="5A3831"/>
                </a:solidFill>
                <a:latin typeface="Canva Sans"/>
                <a:ea typeface="Canva Sans"/>
                <a:cs typeface="Canva Sans"/>
                <a:sym typeface="Canva Sans"/>
              </a:rPr>
              <a:t>Connecting Artists and Buyers Seamlessly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2974449" y="2381068"/>
            <a:ext cx="12339102" cy="954136"/>
          </a:xfrm>
          <a:prstGeom prst="rect">
            <a:avLst/>
          </a:prstGeom>
        </p:spPr>
        <p:txBody>
          <a:bodyPr anchor="t" rtlCol="false" tIns="0" lIns="0" bIns="0" rIns="0">
            <a:spAutoFit/>
          </a:bodyPr>
          <a:lstStyle/>
          <a:p>
            <a:pPr algn="ctr">
              <a:lnSpc>
                <a:spcPts val="6813"/>
              </a:lnSpc>
            </a:pPr>
            <a:r>
              <a:rPr lang="en-US" sz="8111" b="true">
                <a:solidFill>
                  <a:srgbClr val="5A3831"/>
                </a:solidFill>
                <a:latin typeface="Manison SemiExpanded Bold"/>
                <a:ea typeface="Manison SemiExpanded Bold"/>
                <a:cs typeface="Manison SemiExpanded Bold"/>
                <a:sym typeface="Manison SemiExpanded Bold"/>
              </a:rPr>
              <a:t>System Inspiration</a:t>
            </a:r>
          </a:p>
        </p:txBody>
      </p:sp>
      <p:sp>
        <p:nvSpPr>
          <p:cNvPr name="TextBox 17" id="17"/>
          <p:cNvSpPr txBox="true"/>
          <p:nvPr/>
        </p:nvSpPr>
        <p:spPr>
          <a:xfrm rot="0">
            <a:off x="2235502" y="3761027"/>
            <a:ext cx="13816996" cy="47815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The Drawn System was inspired by the need for a streamlined platform that bridges the gap between artists and buyers. Traditionally, commissioning artwork involves scattered communications and manual tracking of requests, offers, and deliverables. This system centralizes these processes, ensuring clarity, efficiency, and accountability. It provides a secure, role-based environment where users can interact seamlessly and manage their transactions with ease.</a:t>
            </a:r>
          </a:p>
          <a:p>
            <a:pPr algn="ctr">
              <a:lnSpc>
                <a:spcPts val="4200"/>
              </a:lnSpc>
            </a:pPr>
          </a:p>
          <a:p>
            <a:pPr algn="ctr">
              <a:lnSpc>
                <a:spcPts val="420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4920198" y="2379981"/>
            <a:ext cx="8447605"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Introduction</a:t>
            </a:r>
          </a:p>
        </p:txBody>
      </p:sp>
      <p:sp>
        <p:nvSpPr>
          <p:cNvPr name="TextBox 17" id="17"/>
          <p:cNvSpPr txBox="true"/>
          <p:nvPr/>
        </p:nvSpPr>
        <p:spPr>
          <a:xfrm rot="0">
            <a:off x="2068273" y="3964468"/>
            <a:ext cx="14950745" cy="42481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Drawn System is a console-based application that supports three main roles: Admin, Artist, and Buyer. The system ensures that the first admin is created at setup, providing governance from the start. Each role has a tailored dashboard with functionalities designed to match their needs. Admins oversee users, offers, and commissions; artists can browse open commissions, submit offers, and upload artwork; buyers can create commissions, track offers, and view delivered artworks.</a:t>
            </a:r>
          </a:p>
          <a:p>
            <a:pPr algn="ctr">
              <a:lnSpc>
                <a:spcPts val="42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2416048" y="2564270"/>
            <a:ext cx="14255195"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Stakeholders Overview</a:t>
            </a:r>
          </a:p>
        </p:txBody>
      </p:sp>
      <p:sp>
        <p:nvSpPr>
          <p:cNvPr name="TextBox 17" id="17"/>
          <p:cNvSpPr txBox="true"/>
          <p:nvPr/>
        </p:nvSpPr>
        <p:spPr>
          <a:xfrm rot="0">
            <a:off x="3337255" y="4299191"/>
            <a:ext cx="11613490" cy="3181350"/>
          </a:xfrm>
          <a:prstGeom prst="rect">
            <a:avLst/>
          </a:prstGeom>
        </p:spPr>
        <p:txBody>
          <a:bodyPr anchor="t" rtlCol="false" tIns="0" lIns="0" bIns="0" rIns="0">
            <a:spAutoFit/>
          </a:bodyPr>
          <a:lstStyle/>
          <a:p>
            <a:pPr algn="ctr" marL="647702" indent="-323851" lvl="1">
              <a:lnSpc>
                <a:spcPts val="4200"/>
              </a:lnSpc>
              <a:buFont typeface="Arial"/>
              <a:buChar char="•"/>
            </a:pPr>
            <a:r>
              <a:rPr lang="en-US" sz="3000">
                <a:solidFill>
                  <a:srgbClr val="5A3831"/>
                </a:solidFill>
                <a:latin typeface="Canva Sans"/>
                <a:ea typeface="Canva Sans"/>
                <a:cs typeface="Canva Sans"/>
                <a:sym typeface="Canva Sans"/>
              </a:rPr>
              <a:t>Admin: Manage users, view offers, monitor commissions</a:t>
            </a:r>
          </a:p>
          <a:p>
            <a:pPr algn="ctr" marL="647702" indent="-323851" lvl="1">
              <a:lnSpc>
                <a:spcPts val="4200"/>
              </a:lnSpc>
              <a:buFont typeface="Arial"/>
              <a:buChar char="•"/>
            </a:pPr>
            <a:r>
              <a:rPr lang="en-US" sz="3000">
                <a:solidFill>
                  <a:srgbClr val="5A3831"/>
                </a:solidFill>
                <a:latin typeface="Canva Sans"/>
                <a:ea typeface="Canva Sans"/>
                <a:cs typeface="Canva Sans"/>
                <a:sym typeface="Canva Sans"/>
              </a:rPr>
              <a:t>Artist: </a:t>
            </a:r>
            <a:r>
              <a:rPr lang="en-US" sz="3000">
                <a:solidFill>
                  <a:srgbClr val="5A3831"/>
                </a:solidFill>
                <a:latin typeface="Canva Sans"/>
                <a:ea typeface="Canva Sans"/>
                <a:cs typeface="Canva Sans"/>
                <a:sym typeface="Canva Sans"/>
              </a:rPr>
              <a:t>Submit offers, upload artworks, track accepted commissions</a:t>
            </a:r>
          </a:p>
          <a:p>
            <a:pPr algn="ctr" marL="647702" indent="-323851" lvl="1">
              <a:lnSpc>
                <a:spcPts val="4200"/>
              </a:lnSpc>
              <a:buFont typeface="Arial"/>
              <a:buChar char="•"/>
            </a:pPr>
            <a:r>
              <a:rPr lang="en-US" sz="3000">
                <a:solidFill>
                  <a:srgbClr val="5A3831"/>
                </a:solidFill>
                <a:latin typeface="Canva Sans"/>
                <a:ea typeface="Canva Sans"/>
                <a:cs typeface="Canva Sans"/>
                <a:sym typeface="Canva Sans"/>
              </a:rPr>
              <a:t>Buyer: Create commissions, accept/reject offers, view delivered artworks</a:t>
            </a:r>
          </a:p>
          <a:p>
            <a:pPr algn="ctr">
              <a:lnSpc>
                <a:spcPts val="42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3797732" y="1956118"/>
            <a:ext cx="11491828"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Stakeholders – Actions Table</a:t>
            </a:r>
          </a:p>
        </p:txBody>
      </p:sp>
      <p:sp>
        <p:nvSpPr>
          <p:cNvPr name="TextBox 17" id="17"/>
          <p:cNvSpPr txBox="true"/>
          <p:nvPr/>
        </p:nvSpPr>
        <p:spPr>
          <a:xfrm rot="0">
            <a:off x="2565454" y="4484054"/>
            <a:ext cx="14404735" cy="2647950"/>
          </a:xfrm>
          <a:prstGeom prst="rect">
            <a:avLst/>
          </a:prstGeom>
        </p:spPr>
        <p:txBody>
          <a:bodyPr anchor="t" rtlCol="false" tIns="0" lIns="0" bIns="0" rIns="0">
            <a:spAutoFit/>
          </a:bodyPr>
          <a:lstStyle/>
          <a:p>
            <a:pPr algn="ctr">
              <a:lnSpc>
                <a:spcPts val="4200"/>
              </a:lnSpc>
            </a:pPr>
            <a:r>
              <a:rPr lang="en-US" sz="3000" b="true">
                <a:solidFill>
                  <a:srgbClr val="5A3831"/>
                </a:solidFill>
                <a:latin typeface="Canva Sans Bold"/>
                <a:ea typeface="Canva Sans Bold"/>
                <a:cs typeface="Canva Sans Bold"/>
                <a:sym typeface="Canva Sans Bold"/>
              </a:rPr>
              <a:t>RoleKey Actions</a:t>
            </a:r>
          </a:p>
          <a:p>
            <a:pPr algn="ctr">
              <a:lnSpc>
                <a:spcPts val="4200"/>
              </a:lnSpc>
            </a:pPr>
            <a:r>
              <a:rPr lang="en-US" sz="3000" b="true">
                <a:solidFill>
                  <a:srgbClr val="5A3831"/>
                </a:solidFill>
                <a:latin typeface="Canva Sans Bold"/>
                <a:ea typeface="Canva Sans Bold"/>
                <a:cs typeface="Canva Sans Bold"/>
                <a:sym typeface="Canva Sans Bold"/>
              </a:rPr>
              <a:t>Admin</a:t>
            </a:r>
            <a:r>
              <a:rPr lang="en-US" sz="3000">
                <a:solidFill>
                  <a:srgbClr val="5A3831"/>
                </a:solidFill>
                <a:latin typeface="Canva Sans"/>
                <a:ea typeface="Canva Sans"/>
                <a:cs typeface="Canva Sans"/>
                <a:sym typeface="Canva Sans"/>
              </a:rPr>
              <a:t>: Add/Update/Delete Users, Approve/Check Commissions, View Offers</a:t>
            </a:r>
          </a:p>
          <a:p>
            <a:pPr algn="ctr">
              <a:lnSpc>
                <a:spcPts val="4200"/>
              </a:lnSpc>
            </a:pPr>
            <a:r>
              <a:rPr lang="en-US" sz="3000" b="true">
                <a:solidFill>
                  <a:srgbClr val="5A3831"/>
                </a:solidFill>
                <a:latin typeface="Canva Sans Bold"/>
                <a:ea typeface="Canva Sans Bold"/>
                <a:cs typeface="Canva Sans Bold"/>
                <a:sym typeface="Canva Sans Bold"/>
              </a:rPr>
              <a:t>Artist</a:t>
            </a:r>
            <a:r>
              <a:rPr lang="en-US" sz="3000">
                <a:solidFill>
                  <a:srgbClr val="5A3831"/>
                </a:solidFill>
                <a:latin typeface="Canva Sans"/>
                <a:ea typeface="Canva Sans"/>
                <a:cs typeface="Canva Sans"/>
                <a:sym typeface="Canva Sans"/>
              </a:rPr>
              <a:t>:  View Open Commissions, Submit Offers, Upload &amp; View Artworks</a:t>
            </a:r>
          </a:p>
          <a:p>
            <a:pPr algn="ctr">
              <a:lnSpc>
                <a:spcPts val="4200"/>
              </a:lnSpc>
            </a:pPr>
            <a:r>
              <a:rPr lang="en-US" sz="3000" b="true">
                <a:solidFill>
                  <a:srgbClr val="5A3831"/>
                </a:solidFill>
                <a:latin typeface="Canva Sans Bold"/>
                <a:ea typeface="Canva Sans Bold"/>
                <a:cs typeface="Canva Sans Bold"/>
                <a:sym typeface="Canva Sans Bold"/>
              </a:rPr>
              <a:t>Buyer</a:t>
            </a:r>
            <a:r>
              <a:rPr lang="en-US" sz="3000">
                <a:solidFill>
                  <a:srgbClr val="5A3831"/>
                </a:solidFill>
                <a:latin typeface="Canva Sans"/>
                <a:ea typeface="Canva Sans"/>
                <a:cs typeface="Canva Sans"/>
                <a:sym typeface="Canva Sans"/>
              </a:rPr>
              <a:t>: Create Commission, View Offers, Accept/Reject, Track Deliveries</a:t>
            </a:r>
          </a:p>
          <a:p>
            <a:pPr algn="ctr">
              <a:lnSpc>
                <a:spcPts val="42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4920198" y="2379981"/>
            <a:ext cx="8447605"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ERD Overview</a:t>
            </a:r>
          </a:p>
        </p:txBody>
      </p:sp>
      <p:sp>
        <p:nvSpPr>
          <p:cNvPr name="TextBox 17" id="17"/>
          <p:cNvSpPr txBox="true"/>
          <p:nvPr/>
        </p:nvSpPr>
        <p:spPr>
          <a:xfrm rot="0">
            <a:off x="2068273" y="3964468"/>
            <a:ext cx="14950745" cy="26479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The system revolves around four core entities: User, Commission, Offer, and Artwork. Users can be admins, artists, or buyers, each with distinct roles. Artists submit offers for commissions and upload completed artwork linked to those commissions. Buyers create commissions and evaluate offers. Admins oversee all entities, providing governance and ensuring system integrity.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2048257" y="3375433"/>
            <a:ext cx="14191486" cy="4949281"/>
          </a:xfrm>
          <a:custGeom>
            <a:avLst/>
            <a:gdLst/>
            <a:ahLst/>
            <a:cxnLst/>
            <a:rect r="r" b="b" t="t" l="l"/>
            <a:pathLst>
              <a:path h="4949281" w="14191486">
                <a:moveTo>
                  <a:pt x="0" y="0"/>
                </a:moveTo>
                <a:lnTo>
                  <a:pt x="14191486" y="0"/>
                </a:lnTo>
                <a:lnTo>
                  <a:pt x="14191486" y="4949281"/>
                </a:lnTo>
                <a:lnTo>
                  <a:pt x="0" y="4949281"/>
                </a:lnTo>
                <a:lnTo>
                  <a:pt x="0" y="0"/>
                </a:lnTo>
                <a:close/>
              </a:path>
            </a:pathLst>
          </a:custGeom>
          <a:blipFill>
            <a:blip r:embed="rId18"/>
            <a:stretch>
              <a:fillRect l="0" t="0" r="0" b="0"/>
            </a:stretch>
          </a:blipFill>
        </p:spPr>
      </p:sp>
      <p:sp>
        <p:nvSpPr>
          <p:cNvPr name="TextBox 17" id="17"/>
          <p:cNvSpPr txBox="true"/>
          <p:nvPr/>
        </p:nvSpPr>
        <p:spPr>
          <a:xfrm rot="0">
            <a:off x="4920198" y="2212620"/>
            <a:ext cx="8447605"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ERD Visual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3320126" y="2212620"/>
            <a:ext cx="12447039"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Flowchart Overview</a:t>
            </a:r>
          </a:p>
        </p:txBody>
      </p:sp>
      <p:sp>
        <p:nvSpPr>
          <p:cNvPr name="TextBox 17" id="17"/>
          <p:cNvSpPr txBox="true"/>
          <p:nvPr/>
        </p:nvSpPr>
        <p:spPr>
          <a:xfrm rot="0">
            <a:off x="2068273" y="3964468"/>
            <a:ext cx="14950745" cy="21145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The main flow starts with system initialization and admin check, followed by the main menu offering login or registration. Users are then redirected to dashboards based on their roles: Admin, Artist, or Buyer. Each dashboard provides access to functions relevant to the role while maintaining security and data integrity.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5249363" y="3117756"/>
            <a:ext cx="7789274" cy="6140544"/>
          </a:xfrm>
          <a:custGeom>
            <a:avLst/>
            <a:gdLst/>
            <a:ahLst/>
            <a:cxnLst/>
            <a:rect r="r" b="b" t="t" l="l"/>
            <a:pathLst>
              <a:path h="6140544" w="7789274">
                <a:moveTo>
                  <a:pt x="0" y="0"/>
                </a:moveTo>
                <a:lnTo>
                  <a:pt x="7789274" y="0"/>
                </a:lnTo>
                <a:lnTo>
                  <a:pt x="7789274" y="6140544"/>
                </a:lnTo>
                <a:lnTo>
                  <a:pt x="0" y="6140544"/>
                </a:lnTo>
                <a:lnTo>
                  <a:pt x="0" y="0"/>
                </a:lnTo>
                <a:close/>
              </a:path>
            </a:pathLst>
          </a:custGeom>
          <a:blipFill>
            <a:blip r:embed="rId18"/>
            <a:stretch>
              <a:fillRect l="0" t="0" r="0" b="0"/>
            </a:stretch>
          </a:blipFill>
        </p:spPr>
      </p:sp>
      <p:sp>
        <p:nvSpPr>
          <p:cNvPr name="TextBox 17" id="17"/>
          <p:cNvSpPr txBox="true"/>
          <p:nvPr/>
        </p:nvSpPr>
        <p:spPr>
          <a:xfrm rot="0">
            <a:off x="4615135" y="2100069"/>
            <a:ext cx="9857021"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Flowchart Visual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4373328" y="4273987"/>
            <a:ext cx="11060956" cy="4067872"/>
          </a:xfrm>
          <a:custGeom>
            <a:avLst/>
            <a:gdLst/>
            <a:ahLst/>
            <a:cxnLst/>
            <a:rect r="r" b="b" t="t" l="l"/>
            <a:pathLst>
              <a:path h="4067872" w="11060956">
                <a:moveTo>
                  <a:pt x="0" y="0"/>
                </a:moveTo>
                <a:lnTo>
                  <a:pt x="11060956" y="0"/>
                </a:lnTo>
                <a:lnTo>
                  <a:pt x="11060956" y="4067873"/>
                </a:lnTo>
                <a:lnTo>
                  <a:pt x="0" y="4067873"/>
                </a:lnTo>
                <a:lnTo>
                  <a:pt x="0" y="0"/>
                </a:lnTo>
                <a:close/>
              </a:path>
            </a:pathLst>
          </a:custGeom>
          <a:blipFill>
            <a:blip r:embed="rId18"/>
            <a:stretch>
              <a:fillRect l="0" t="0" r="0" b="0"/>
            </a:stretch>
          </a:blipFill>
        </p:spPr>
      </p:sp>
      <p:sp>
        <p:nvSpPr>
          <p:cNvPr name="TextBox 17" id="17"/>
          <p:cNvSpPr txBox="true"/>
          <p:nvPr/>
        </p:nvSpPr>
        <p:spPr>
          <a:xfrm rot="0">
            <a:off x="3320126" y="2212620"/>
            <a:ext cx="12447039"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Data Dictionary</a:t>
            </a:r>
          </a:p>
        </p:txBody>
      </p:sp>
      <p:sp>
        <p:nvSpPr>
          <p:cNvPr name="TextBox 18" id="18"/>
          <p:cNvSpPr txBox="true"/>
          <p:nvPr/>
        </p:nvSpPr>
        <p:spPr>
          <a:xfrm rot="0">
            <a:off x="-2642338" y="3648186"/>
            <a:ext cx="14950745" cy="1047750"/>
          </a:xfrm>
          <a:prstGeom prst="rect">
            <a:avLst/>
          </a:prstGeom>
        </p:spPr>
        <p:txBody>
          <a:bodyPr anchor="t" rtlCol="false" tIns="0" lIns="0" bIns="0" rIns="0">
            <a:spAutoFit/>
          </a:bodyPr>
          <a:lstStyle/>
          <a:p>
            <a:pPr algn="ctr">
              <a:lnSpc>
                <a:spcPts val="4200"/>
              </a:lnSpc>
            </a:pPr>
            <a:r>
              <a:rPr lang="en-US" sz="3000" b="true">
                <a:solidFill>
                  <a:srgbClr val="5A3831"/>
                </a:solidFill>
                <a:latin typeface="Canva Sans Bold"/>
                <a:ea typeface="Canva Sans Bold"/>
                <a:cs typeface="Canva Sans Bold"/>
                <a:sym typeface="Canva Sans Bold"/>
              </a:rPr>
              <a:t>User Table:</a:t>
            </a:r>
          </a:p>
          <a:p>
            <a:pPr algn="ctr">
              <a:lnSpc>
                <a:spcPts val="42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4339852" y="4502964"/>
            <a:ext cx="10407587" cy="3354827"/>
          </a:xfrm>
          <a:custGeom>
            <a:avLst/>
            <a:gdLst/>
            <a:ahLst/>
            <a:cxnLst/>
            <a:rect r="r" b="b" t="t" l="l"/>
            <a:pathLst>
              <a:path h="3354827" w="10407587">
                <a:moveTo>
                  <a:pt x="0" y="0"/>
                </a:moveTo>
                <a:lnTo>
                  <a:pt x="10407587" y="0"/>
                </a:lnTo>
                <a:lnTo>
                  <a:pt x="10407587" y="3354826"/>
                </a:lnTo>
                <a:lnTo>
                  <a:pt x="0" y="3354826"/>
                </a:lnTo>
                <a:lnTo>
                  <a:pt x="0" y="0"/>
                </a:lnTo>
                <a:close/>
              </a:path>
            </a:pathLst>
          </a:custGeom>
          <a:blipFill>
            <a:blip r:embed="rId18"/>
            <a:stretch>
              <a:fillRect l="0" t="0" r="0" b="0"/>
            </a:stretch>
          </a:blipFill>
        </p:spPr>
      </p:sp>
      <p:sp>
        <p:nvSpPr>
          <p:cNvPr name="TextBox 17" id="17"/>
          <p:cNvSpPr txBox="true"/>
          <p:nvPr/>
        </p:nvSpPr>
        <p:spPr>
          <a:xfrm rot="0">
            <a:off x="3320126" y="2212620"/>
            <a:ext cx="12447039"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Data Dictionary</a:t>
            </a:r>
          </a:p>
        </p:txBody>
      </p:sp>
      <p:sp>
        <p:nvSpPr>
          <p:cNvPr name="TextBox 18" id="18"/>
          <p:cNvSpPr txBox="true"/>
          <p:nvPr/>
        </p:nvSpPr>
        <p:spPr>
          <a:xfrm rot="0">
            <a:off x="-2642338" y="3648186"/>
            <a:ext cx="14950745" cy="1047750"/>
          </a:xfrm>
          <a:prstGeom prst="rect">
            <a:avLst/>
          </a:prstGeom>
        </p:spPr>
        <p:txBody>
          <a:bodyPr anchor="t" rtlCol="false" tIns="0" lIns="0" bIns="0" rIns="0">
            <a:spAutoFit/>
          </a:bodyPr>
          <a:lstStyle/>
          <a:p>
            <a:pPr algn="ctr">
              <a:lnSpc>
                <a:spcPts val="4200"/>
              </a:lnSpc>
            </a:pPr>
            <a:r>
              <a:rPr lang="en-US" sz="3000" b="true">
                <a:solidFill>
                  <a:srgbClr val="5A3831"/>
                </a:solidFill>
                <a:latin typeface="Canva Sans Bold"/>
                <a:ea typeface="Canva Sans Bold"/>
                <a:cs typeface="Canva Sans Bold"/>
                <a:sym typeface="Canva Sans Bold"/>
              </a:rPr>
              <a:t>Artwork Table:</a:t>
            </a:r>
          </a:p>
          <a:p>
            <a:pPr algn="ctr">
              <a:lnSpc>
                <a:spcPts val="42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4023618" y="4528512"/>
            <a:ext cx="10251838" cy="3558823"/>
          </a:xfrm>
          <a:custGeom>
            <a:avLst/>
            <a:gdLst/>
            <a:ahLst/>
            <a:cxnLst/>
            <a:rect r="r" b="b" t="t" l="l"/>
            <a:pathLst>
              <a:path h="3558823" w="10251838">
                <a:moveTo>
                  <a:pt x="0" y="0"/>
                </a:moveTo>
                <a:lnTo>
                  <a:pt x="10251838" y="0"/>
                </a:lnTo>
                <a:lnTo>
                  <a:pt x="10251838" y="3558823"/>
                </a:lnTo>
                <a:lnTo>
                  <a:pt x="0" y="3558823"/>
                </a:lnTo>
                <a:lnTo>
                  <a:pt x="0" y="0"/>
                </a:lnTo>
                <a:close/>
              </a:path>
            </a:pathLst>
          </a:custGeom>
          <a:blipFill>
            <a:blip r:embed="rId18"/>
            <a:stretch>
              <a:fillRect l="0" t="0" r="0" b="0"/>
            </a:stretch>
          </a:blipFill>
        </p:spPr>
      </p:sp>
      <p:sp>
        <p:nvSpPr>
          <p:cNvPr name="TextBox 17" id="17"/>
          <p:cNvSpPr txBox="true"/>
          <p:nvPr/>
        </p:nvSpPr>
        <p:spPr>
          <a:xfrm rot="0">
            <a:off x="3320126" y="2212620"/>
            <a:ext cx="12447039"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Data Dictionary</a:t>
            </a:r>
          </a:p>
        </p:txBody>
      </p:sp>
      <p:sp>
        <p:nvSpPr>
          <p:cNvPr name="TextBox 18" id="18"/>
          <p:cNvSpPr txBox="true"/>
          <p:nvPr/>
        </p:nvSpPr>
        <p:spPr>
          <a:xfrm rot="0">
            <a:off x="-2642338" y="3648186"/>
            <a:ext cx="14950745" cy="1047750"/>
          </a:xfrm>
          <a:prstGeom prst="rect">
            <a:avLst/>
          </a:prstGeom>
        </p:spPr>
        <p:txBody>
          <a:bodyPr anchor="t" rtlCol="false" tIns="0" lIns="0" bIns="0" rIns="0">
            <a:spAutoFit/>
          </a:bodyPr>
          <a:lstStyle/>
          <a:p>
            <a:pPr algn="ctr">
              <a:lnSpc>
                <a:spcPts val="4200"/>
              </a:lnSpc>
            </a:pPr>
            <a:r>
              <a:rPr lang="en-US" sz="3000" b="true">
                <a:solidFill>
                  <a:srgbClr val="5A3831"/>
                </a:solidFill>
                <a:latin typeface="Canva Sans Bold"/>
                <a:ea typeface="Canva Sans Bold"/>
                <a:cs typeface="Canva Sans Bold"/>
                <a:sym typeface="Canva Sans Bold"/>
              </a:rPr>
              <a:t>Offer Table:</a:t>
            </a:r>
          </a:p>
          <a:p>
            <a:pPr algn="ctr">
              <a:lnSpc>
                <a:spcPts val="42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4297101" y="4386654"/>
            <a:ext cx="10493090" cy="3842540"/>
          </a:xfrm>
          <a:custGeom>
            <a:avLst/>
            <a:gdLst/>
            <a:ahLst/>
            <a:cxnLst/>
            <a:rect r="r" b="b" t="t" l="l"/>
            <a:pathLst>
              <a:path h="3842540" w="10493090">
                <a:moveTo>
                  <a:pt x="0" y="0"/>
                </a:moveTo>
                <a:lnTo>
                  <a:pt x="10493089" y="0"/>
                </a:lnTo>
                <a:lnTo>
                  <a:pt x="10493089" y="3842539"/>
                </a:lnTo>
                <a:lnTo>
                  <a:pt x="0" y="3842539"/>
                </a:lnTo>
                <a:lnTo>
                  <a:pt x="0" y="0"/>
                </a:lnTo>
                <a:close/>
              </a:path>
            </a:pathLst>
          </a:custGeom>
          <a:blipFill>
            <a:blip r:embed="rId18"/>
            <a:stretch>
              <a:fillRect l="0" t="0" r="0" b="0"/>
            </a:stretch>
          </a:blipFill>
        </p:spPr>
      </p:sp>
      <p:sp>
        <p:nvSpPr>
          <p:cNvPr name="TextBox 17" id="17"/>
          <p:cNvSpPr txBox="true"/>
          <p:nvPr/>
        </p:nvSpPr>
        <p:spPr>
          <a:xfrm rot="0">
            <a:off x="3320126" y="2212620"/>
            <a:ext cx="12447039" cy="946786"/>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Data Dictionary</a:t>
            </a:r>
          </a:p>
        </p:txBody>
      </p:sp>
      <p:sp>
        <p:nvSpPr>
          <p:cNvPr name="TextBox 18" id="18"/>
          <p:cNvSpPr txBox="true"/>
          <p:nvPr/>
        </p:nvSpPr>
        <p:spPr>
          <a:xfrm rot="0">
            <a:off x="-2642338" y="3648186"/>
            <a:ext cx="14950745" cy="514350"/>
          </a:xfrm>
          <a:prstGeom prst="rect">
            <a:avLst/>
          </a:prstGeom>
        </p:spPr>
        <p:txBody>
          <a:bodyPr anchor="t" rtlCol="false" tIns="0" lIns="0" bIns="0" rIns="0">
            <a:spAutoFit/>
          </a:bodyPr>
          <a:lstStyle/>
          <a:p>
            <a:pPr algn="ctr">
              <a:lnSpc>
                <a:spcPts val="4200"/>
              </a:lnSpc>
            </a:pPr>
            <a:r>
              <a:rPr lang="en-US" sz="3000" b="true">
                <a:solidFill>
                  <a:srgbClr val="5A3831"/>
                </a:solidFill>
                <a:latin typeface="Canva Sans Bold"/>
                <a:ea typeface="Canva Sans Bold"/>
                <a:cs typeface="Canva Sans Bold"/>
                <a:sym typeface="Canva Sans Bold"/>
              </a:rPr>
              <a:t>Commission Table: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3320126" y="1788757"/>
            <a:ext cx="12447039"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System Features – Admin</a:t>
            </a:r>
          </a:p>
        </p:txBody>
      </p:sp>
      <p:sp>
        <p:nvSpPr>
          <p:cNvPr name="TextBox 17" id="17"/>
          <p:cNvSpPr txBox="true"/>
          <p:nvPr/>
        </p:nvSpPr>
        <p:spPr>
          <a:xfrm rot="0">
            <a:off x="2068273" y="3964468"/>
            <a:ext cx="14950745" cy="21145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Admins can add, update, or delete users, view offers, and approve or deny commissions. These functions provide governance over all system interactions and ensure integrity across all transactions.</a:t>
            </a:r>
          </a:p>
          <a:p>
            <a:pPr algn="ctr">
              <a:lnSpc>
                <a:spcPts val="420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3320126" y="1788757"/>
            <a:ext cx="12447039"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System Features – Artist</a:t>
            </a:r>
          </a:p>
        </p:txBody>
      </p:sp>
      <p:sp>
        <p:nvSpPr>
          <p:cNvPr name="TextBox 17" id="17"/>
          <p:cNvSpPr txBox="true"/>
          <p:nvPr/>
        </p:nvSpPr>
        <p:spPr>
          <a:xfrm rot="0">
            <a:off x="2068273" y="3964468"/>
            <a:ext cx="14950745" cy="15811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Artists can browse open commissions, submit offers, track accepted commissions, and upload or view artworks. These features streamline the workflow from commission discovery to delivery of the completed artwork.</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3320126" y="1788757"/>
            <a:ext cx="12447039"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System Features – Buyer</a:t>
            </a:r>
          </a:p>
        </p:txBody>
      </p:sp>
      <p:sp>
        <p:nvSpPr>
          <p:cNvPr name="TextBox 17" id="17"/>
          <p:cNvSpPr txBox="true"/>
          <p:nvPr/>
        </p:nvSpPr>
        <p:spPr>
          <a:xfrm rot="0">
            <a:off x="2068273" y="3964468"/>
            <a:ext cx="14950745" cy="21145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Buyers create commissions, view offers, accept or reject submissions, update commission status, and track delivered artworks. This empowers buyers to maintain control and transparency over their commissioned projects.</a:t>
            </a:r>
          </a:p>
          <a:p>
            <a:pPr algn="ctr">
              <a:lnSpc>
                <a:spcPts val="420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1754754" y="2013890"/>
            <a:ext cx="16026136"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Program Demonstration – Core Functions</a:t>
            </a:r>
          </a:p>
        </p:txBody>
      </p:sp>
      <p:sp>
        <p:nvSpPr>
          <p:cNvPr name="TextBox 17" id="17"/>
          <p:cNvSpPr txBox="true"/>
          <p:nvPr/>
        </p:nvSpPr>
        <p:spPr>
          <a:xfrm rot="0">
            <a:off x="2068273" y="5031268"/>
            <a:ext cx="14950745" cy="21145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The system uses console-based dashboards that guide users through role-specific operations. Admins, artists, and buyers all have tailored menus with clear, tabular outputs for Users, Offers, Commissions, and Artworks.</a:t>
            </a:r>
          </a:p>
          <a:p>
            <a:pPr algn="ctr">
              <a:lnSpc>
                <a:spcPts val="420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1754754" y="2013890"/>
            <a:ext cx="16026136"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Program Demonstration – Security &amp; Validation</a:t>
            </a:r>
          </a:p>
        </p:txBody>
      </p:sp>
      <p:sp>
        <p:nvSpPr>
          <p:cNvPr name="TextBox 17" id="17"/>
          <p:cNvSpPr txBox="true"/>
          <p:nvPr/>
        </p:nvSpPr>
        <p:spPr>
          <a:xfrm rot="0">
            <a:off x="2068273" y="4456101"/>
            <a:ext cx="14950745" cy="21145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The system incorporates password hashing and role-based access. Validation ensures unique usernames and emails, correct input types, and proper status assignments. Suspended or terminated accounts cannot access restricted functions, maintaining security.</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1754754" y="2013890"/>
            <a:ext cx="16026136"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Program Demonstration – Reports</a:t>
            </a:r>
          </a:p>
        </p:txBody>
      </p:sp>
      <p:sp>
        <p:nvSpPr>
          <p:cNvPr name="TextBox 17" id="17"/>
          <p:cNvSpPr txBox="true"/>
          <p:nvPr/>
        </p:nvSpPr>
        <p:spPr>
          <a:xfrm rot="0">
            <a:off x="2068273" y="4456101"/>
            <a:ext cx="14950745" cy="10477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All outputs are displayed in tabular form for clarity. Reports include users, offers, commissions, and artworks, enabling easy review and printing if needed.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1754754" y="2013890"/>
            <a:ext cx="16026136" cy="1794511"/>
          </a:xfrm>
          <a:prstGeom prst="rect">
            <a:avLst/>
          </a:prstGeom>
        </p:spPr>
        <p:txBody>
          <a:bodyPr anchor="t" rtlCol="false" tIns="0" lIns="0" bIns="0" rIns="0">
            <a:spAutoFit/>
          </a:bodyPr>
          <a:lstStyle/>
          <a:p>
            <a:pPr algn="ctr">
              <a:lnSpc>
                <a:spcPts val="6720"/>
              </a:lnSpc>
            </a:pPr>
            <a:r>
              <a:rPr lang="en-US" sz="8000" b="true">
                <a:solidFill>
                  <a:srgbClr val="5A3831"/>
                </a:solidFill>
                <a:latin typeface="Manison SemiExpanded Bold"/>
                <a:ea typeface="Manison SemiExpanded Bold"/>
                <a:cs typeface="Manison SemiExpanded Bold"/>
                <a:sym typeface="Manison SemiExpanded Bold"/>
              </a:rPr>
              <a:t>System Evaluation / Reflection</a:t>
            </a:r>
          </a:p>
        </p:txBody>
      </p:sp>
      <p:sp>
        <p:nvSpPr>
          <p:cNvPr name="TextBox 17" id="17"/>
          <p:cNvSpPr txBox="true"/>
          <p:nvPr/>
        </p:nvSpPr>
        <p:spPr>
          <a:xfrm rot="0">
            <a:off x="2068273" y="4456101"/>
            <a:ext cx="14950745" cy="2647950"/>
          </a:xfrm>
          <a:prstGeom prst="rect">
            <a:avLst/>
          </a:prstGeom>
        </p:spPr>
        <p:txBody>
          <a:bodyPr anchor="t" rtlCol="false" tIns="0" lIns="0" bIns="0" rIns="0">
            <a:spAutoFit/>
          </a:bodyPr>
          <a:lstStyle/>
          <a:p>
            <a:pPr algn="ctr">
              <a:lnSpc>
                <a:spcPts val="4200"/>
              </a:lnSpc>
            </a:pPr>
            <a:r>
              <a:rPr lang="en-US" sz="3000">
                <a:solidFill>
                  <a:srgbClr val="5A3831"/>
                </a:solidFill>
                <a:latin typeface="Canva Sans"/>
                <a:ea typeface="Canva Sans"/>
                <a:cs typeface="Canva Sans"/>
                <a:sym typeface="Canva Sans"/>
              </a:rPr>
              <a:t>Developing the Drawn System presented challenges including secure authentication, handling relational data, and designing role-based dashboards. Key learnings involved input validation, modular coding, and maintaining access control. Future improvements could include a GUI interface, notifications for offer status, integrated analytics for admins, and better file storage for artworks.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4EBDC"/>
        </a:solidFill>
      </p:bgPr>
    </p:bg>
    <p:spTree>
      <p:nvGrpSpPr>
        <p:cNvPr id="1" name=""/>
        <p:cNvGrpSpPr/>
        <p:nvPr/>
      </p:nvGrpSpPr>
      <p:grpSpPr>
        <a:xfrm>
          <a:off x="0" y="0"/>
          <a:ext cx="0" cy="0"/>
          <a:chOff x="0" y="0"/>
          <a:chExt cx="0" cy="0"/>
        </a:xfrm>
      </p:grpSpPr>
      <p:sp>
        <p:nvSpPr>
          <p:cNvPr name="Freeform 2" id="2"/>
          <p:cNvSpPr/>
          <p:nvPr/>
        </p:nvSpPr>
        <p:spPr>
          <a:xfrm flipH="true" flipV="false" rot="655863">
            <a:off x="-2718108" y="7914948"/>
            <a:ext cx="6863334" cy="5881426"/>
          </a:xfrm>
          <a:custGeom>
            <a:avLst/>
            <a:gdLst/>
            <a:ahLst/>
            <a:cxnLst/>
            <a:rect r="r" b="b" t="t" l="l"/>
            <a:pathLst>
              <a:path h="5881426" w="6863334">
                <a:moveTo>
                  <a:pt x="6863335" y="0"/>
                </a:moveTo>
                <a:lnTo>
                  <a:pt x="0" y="0"/>
                </a:lnTo>
                <a:lnTo>
                  <a:pt x="0" y="5881427"/>
                </a:lnTo>
                <a:lnTo>
                  <a:pt x="6863335" y="5881427"/>
                </a:lnTo>
                <a:lnTo>
                  <a:pt x="686333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77970">
            <a:off x="14614314" y="8038309"/>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9767822" y="9456441"/>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4023618" y="9456441"/>
            <a:ext cx="6729198" cy="4114800"/>
          </a:xfrm>
          <a:custGeom>
            <a:avLst/>
            <a:gdLst/>
            <a:ahLst/>
            <a:cxnLst/>
            <a:rect r="r" b="b" t="t" l="l"/>
            <a:pathLst>
              <a:path h="4114800" w="6729198">
                <a:moveTo>
                  <a:pt x="0" y="4114800"/>
                </a:moveTo>
                <a:lnTo>
                  <a:pt x="6729198" y="4114800"/>
                </a:lnTo>
                <a:lnTo>
                  <a:pt x="6729198"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1425" y="9258300"/>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6146571" y="9531439"/>
            <a:ext cx="2483292" cy="1324222"/>
          </a:xfrm>
          <a:custGeom>
            <a:avLst/>
            <a:gdLst/>
            <a:ahLst/>
            <a:cxnLst/>
            <a:rect r="r" b="b" t="t" l="l"/>
            <a:pathLst>
              <a:path h="1324222" w="2483292">
                <a:moveTo>
                  <a:pt x="0" y="0"/>
                </a:moveTo>
                <a:lnTo>
                  <a:pt x="2483292" y="0"/>
                </a:lnTo>
                <a:lnTo>
                  <a:pt x="2483292"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true" flipV="false" rot="-10209537">
            <a:off x="14026850" y="-3520368"/>
            <a:ext cx="6863334" cy="5881426"/>
          </a:xfrm>
          <a:custGeom>
            <a:avLst/>
            <a:gdLst/>
            <a:ahLst/>
            <a:cxnLst/>
            <a:rect r="r" b="b" t="t" l="l"/>
            <a:pathLst>
              <a:path h="5881426" w="6863334">
                <a:moveTo>
                  <a:pt x="6863334" y="0"/>
                </a:moveTo>
                <a:lnTo>
                  <a:pt x="0" y="0"/>
                </a:lnTo>
                <a:lnTo>
                  <a:pt x="0" y="5881427"/>
                </a:lnTo>
                <a:lnTo>
                  <a:pt x="6863334" y="5881427"/>
                </a:lnTo>
                <a:lnTo>
                  <a:pt x="68633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587429">
            <a:off x="-1724223" y="-2557377"/>
            <a:ext cx="5289973" cy="5109779"/>
          </a:xfrm>
          <a:custGeom>
            <a:avLst/>
            <a:gdLst/>
            <a:ahLst/>
            <a:cxnLst/>
            <a:rect r="r" b="b" t="t" l="l"/>
            <a:pathLst>
              <a:path h="5109779" w="5289973">
                <a:moveTo>
                  <a:pt x="0" y="0"/>
                </a:moveTo>
                <a:lnTo>
                  <a:pt x="5289972" y="0"/>
                </a:lnTo>
                <a:lnTo>
                  <a:pt x="5289972" y="5109779"/>
                </a:lnTo>
                <a:lnTo>
                  <a:pt x="0" y="51097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10734599">
            <a:off x="3549481" y="-3076798"/>
            <a:ext cx="4844329" cy="4114800"/>
          </a:xfrm>
          <a:custGeom>
            <a:avLst/>
            <a:gdLst/>
            <a:ahLst/>
            <a:cxnLst/>
            <a:rect r="r" b="b" t="t" l="l"/>
            <a:pathLst>
              <a:path h="4114800" w="4844329">
                <a:moveTo>
                  <a:pt x="4844329" y="0"/>
                </a:moveTo>
                <a:lnTo>
                  <a:pt x="0" y="0"/>
                </a:lnTo>
                <a:lnTo>
                  <a:pt x="0" y="4114800"/>
                </a:lnTo>
                <a:lnTo>
                  <a:pt x="4844329" y="4114800"/>
                </a:lnTo>
                <a:lnTo>
                  <a:pt x="484432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true" rot="10734599">
            <a:off x="7407947" y="-3168142"/>
            <a:ext cx="6729198" cy="4114800"/>
          </a:xfrm>
          <a:custGeom>
            <a:avLst/>
            <a:gdLst/>
            <a:ahLst/>
            <a:cxnLst/>
            <a:rect r="r" b="b" t="t" l="l"/>
            <a:pathLst>
              <a:path h="4114800" w="6729198">
                <a:moveTo>
                  <a:pt x="0" y="4114800"/>
                </a:moveTo>
                <a:lnTo>
                  <a:pt x="6729199" y="4114800"/>
                </a:lnTo>
                <a:lnTo>
                  <a:pt x="6729199"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0734599">
            <a:off x="16306976" y="-1033801"/>
            <a:ext cx="1694549" cy="2057400"/>
          </a:xfrm>
          <a:custGeom>
            <a:avLst/>
            <a:gdLst/>
            <a:ahLst/>
            <a:cxnLst/>
            <a:rect r="r" b="b" t="t" l="l"/>
            <a:pathLst>
              <a:path h="2057400" w="1694549">
                <a:moveTo>
                  <a:pt x="0" y="0"/>
                </a:moveTo>
                <a:lnTo>
                  <a:pt x="1694550" y="0"/>
                </a:lnTo>
                <a:lnTo>
                  <a:pt x="169455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10734599">
            <a:off x="9556016" y="-452802"/>
            <a:ext cx="2483292" cy="1324222"/>
          </a:xfrm>
          <a:custGeom>
            <a:avLst/>
            <a:gdLst/>
            <a:ahLst/>
            <a:cxnLst/>
            <a:rect r="r" b="b" t="t" l="l"/>
            <a:pathLst>
              <a:path h="1324222" w="2483292">
                <a:moveTo>
                  <a:pt x="0" y="0"/>
                </a:moveTo>
                <a:lnTo>
                  <a:pt x="2483293" y="0"/>
                </a:lnTo>
                <a:lnTo>
                  <a:pt x="2483293" y="1324223"/>
                </a:lnTo>
                <a:lnTo>
                  <a:pt x="0" y="13242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3694423" y="-2436222"/>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0393908" y="9531439"/>
            <a:ext cx="2277223" cy="2833649"/>
          </a:xfrm>
          <a:custGeom>
            <a:avLst/>
            <a:gdLst/>
            <a:ahLst/>
            <a:cxnLst/>
            <a:rect r="r" b="b" t="t" l="l"/>
            <a:pathLst>
              <a:path h="2833649" w="2277223">
                <a:moveTo>
                  <a:pt x="0" y="0"/>
                </a:moveTo>
                <a:lnTo>
                  <a:pt x="2277223" y="0"/>
                </a:lnTo>
                <a:lnTo>
                  <a:pt x="2277223" y="2833649"/>
                </a:lnTo>
                <a:lnTo>
                  <a:pt x="0" y="28336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6" id="16"/>
          <p:cNvSpPr txBox="true"/>
          <p:nvPr/>
        </p:nvSpPr>
        <p:spPr>
          <a:xfrm rot="0">
            <a:off x="4741983" y="3825246"/>
            <a:ext cx="8804035" cy="3112758"/>
          </a:xfrm>
          <a:prstGeom prst="rect">
            <a:avLst/>
          </a:prstGeom>
        </p:spPr>
        <p:txBody>
          <a:bodyPr anchor="t" rtlCol="false" tIns="0" lIns="0" bIns="0" rIns="0">
            <a:spAutoFit/>
          </a:bodyPr>
          <a:lstStyle/>
          <a:p>
            <a:pPr algn="ctr">
              <a:lnSpc>
                <a:spcPts val="11689"/>
              </a:lnSpc>
            </a:pPr>
            <a:r>
              <a:rPr lang="en-US" sz="13916" b="true">
                <a:solidFill>
                  <a:srgbClr val="5A3831"/>
                </a:solidFill>
                <a:latin typeface="Manison SemiExpanded Bold"/>
                <a:ea typeface="Manison SemiExpanded Bold"/>
                <a:cs typeface="Manison SemiExpanded Bold"/>
                <a:sym typeface="Manison SemiExpanded Bold"/>
              </a:rPr>
              <a:t>Thank</a:t>
            </a:r>
          </a:p>
          <a:p>
            <a:pPr algn="ctr">
              <a:lnSpc>
                <a:spcPts val="11689"/>
              </a:lnSpc>
            </a:pPr>
            <a:r>
              <a:rPr lang="en-US" sz="13916" b="true">
                <a:solidFill>
                  <a:srgbClr val="5A3831"/>
                </a:solidFill>
                <a:latin typeface="Manison SemiExpanded Bold"/>
                <a:ea typeface="Manison SemiExpanded Bold"/>
                <a:cs typeface="Manison SemiExpanded Bold"/>
                <a:sym typeface="Manison SemiExpanded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DAG5btYxeQ4</dc:identifier>
  <dcterms:modified xsi:type="dcterms:W3CDTF">2011-08-01T06:04:30Z</dcterms:modified>
  <cp:revision>1</cp:revision>
  <dc:title>Brown Illustrative Abstract Group Project Presentation</dc:title>
</cp:coreProperties>
</file>